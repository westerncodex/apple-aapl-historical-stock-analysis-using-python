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0"/>
  </p:notesMasterIdLst>
  <p:sldIdLst>
    <p:sldId id="267" r:id="rId2"/>
    <p:sldId id="277" r:id="rId3"/>
    <p:sldId id="276" r:id="rId4"/>
    <p:sldId id="271" r:id="rId5"/>
    <p:sldId id="272" r:id="rId6"/>
    <p:sldId id="273" r:id="rId7"/>
    <p:sldId id="274" r:id="rId8"/>
    <p:sldId id="275" r:id="rId9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5763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591994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63341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16066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06312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08167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74441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02427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1558835" y="358141"/>
            <a:ext cx="10308771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mbria"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US" sz="1800" b="1" dirty="0">
              <a:solidFill>
                <a:schemeClr val="dk1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cxnSp>
        <p:nvCxnSpPr>
          <p:cNvPr id="79" name="Google Shape;79;p6"/>
          <p:cNvCxnSpPr/>
          <p:nvPr/>
        </p:nvCxnSpPr>
        <p:spPr>
          <a:xfrm>
            <a:off x="502920" y="1170432"/>
            <a:ext cx="11155680" cy="0"/>
          </a:xfrm>
          <a:prstGeom prst="straightConnector1">
            <a:avLst/>
          </a:prstGeom>
          <a:noFill/>
          <a:ln w="19050" cap="flat" cmpd="sng">
            <a:solidFill>
              <a:srgbClr val="2F69D9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7369D60A-42A8-7023-90D6-E94218715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47" y="145433"/>
            <a:ext cx="1182188" cy="788125"/>
          </a:xfrm>
          <a:prstGeom prst="rect">
            <a:avLst/>
          </a:prstGeom>
        </p:spPr>
      </p:pic>
      <p:sp>
        <p:nvSpPr>
          <p:cNvPr id="12" name="Google Shape;65;p5">
            <a:extLst>
              <a:ext uri="{FF2B5EF4-FFF2-40B4-BE49-F238E27FC236}">
                <a16:creationId xmlns:a16="http://schemas.microsoft.com/office/drawing/2014/main" id="{D2855050-7F55-DC50-050D-1462BC88513B}"/>
              </a:ext>
            </a:extLst>
          </p:cNvPr>
          <p:cNvSpPr/>
          <p:nvPr/>
        </p:nvSpPr>
        <p:spPr>
          <a:xfrm>
            <a:off x="696250" y="1306937"/>
            <a:ext cx="10259568" cy="3674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" tIns="125" rIns="125" bIns="125" anchor="ctr" anchorCtr="0"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 Inc. (AAPL) Historical Stock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Period: June 2021 – June 2026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 Date, Open Price, Close Price, High Price, Low Price, and Trading Volume</a:t>
            </a:r>
          </a:p>
        </p:txBody>
      </p:sp>
    </p:spTree>
    <p:extLst>
      <p:ext uri="{BB962C8B-B14F-4D97-AF65-F5344CB8AC3E}">
        <p14:creationId xmlns:p14="http://schemas.microsoft.com/office/powerpoint/2010/main" val="1107906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1558835" y="358141"/>
            <a:ext cx="10308771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TECHNIQUES APPLIED</a:t>
            </a:r>
          </a:p>
        </p:txBody>
      </p:sp>
      <p:cxnSp>
        <p:nvCxnSpPr>
          <p:cNvPr id="79" name="Google Shape;79;p6"/>
          <p:cNvCxnSpPr/>
          <p:nvPr/>
        </p:nvCxnSpPr>
        <p:spPr>
          <a:xfrm>
            <a:off x="502920" y="1170432"/>
            <a:ext cx="11155680" cy="0"/>
          </a:xfrm>
          <a:prstGeom prst="straightConnector1">
            <a:avLst/>
          </a:prstGeom>
          <a:noFill/>
          <a:ln w="19050" cap="flat" cmpd="sng">
            <a:solidFill>
              <a:srgbClr val="2F69D9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7369D60A-42A8-7023-90D6-E94218715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47" y="145433"/>
            <a:ext cx="1182188" cy="788125"/>
          </a:xfrm>
          <a:prstGeom prst="rect">
            <a:avLst/>
          </a:prstGeom>
        </p:spPr>
      </p:pic>
      <p:sp>
        <p:nvSpPr>
          <p:cNvPr id="12" name="Google Shape;65;p5">
            <a:extLst>
              <a:ext uri="{FF2B5EF4-FFF2-40B4-BE49-F238E27FC236}">
                <a16:creationId xmlns:a16="http://schemas.microsoft.com/office/drawing/2014/main" id="{D2855050-7F55-DC50-050D-1462BC88513B}"/>
              </a:ext>
            </a:extLst>
          </p:cNvPr>
          <p:cNvSpPr/>
          <p:nvPr/>
        </p:nvSpPr>
        <p:spPr>
          <a:xfrm>
            <a:off x="696250" y="1306937"/>
            <a:ext cx="10259568" cy="5015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" tIns="125" rIns="125" bIns="125" anchor="ctr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Preprocessing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Date-Time Manipulation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Grouping and Aggregation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 using Pandas</a:t>
            </a:r>
          </a:p>
        </p:txBody>
      </p:sp>
    </p:spTree>
    <p:extLst>
      <p:ext uri="{BB962C8B-B14F-4D97-AF65-F5344CB8AC3E}">
        <p14:creationId xmlns:p14="http://schemas.microsoft.com/office/powerpoint/2010/main" val="685227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D68E3FC-6758-783D-8A51-A9BF62978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534" y="2432422"/>
            <a:ext cx="7858688" cy="3420841"/>
          </a:xfrm>
          <a:prstGeom prst="rect">
            <a:avLst/>
          </a:prstGeom>
        </p:spPr>
      </p:pic>
      <p:sp>
        <p:nvSpPr>
          <p:cNvPr id="78" name="Google Shape;78;p6"/>
          <p:cNvSpPr/>
          <p:nvPr/>
        </p:nvSpPr>
        <p:spPr>
          <a:xfrm>
            <a:off x="1558835" y="358141"/>
            <a:ext cx="10308771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mbria"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CLOSING PRICE TREND</a:t>
            </a:r>
            <a:endParaRPr lang="en-US" sz="1800" b="1" dirty="0">
              <a:solidFill>
                <a:schemeClr val="dk1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cxnSp>
        <p:nvCxnSpPr>
          <p:cNvPr id="79" name="Google Shape;79;p6"/>
          <p:cNvCxnSpPr/>
          <p:nvPr/>
        </p:nvCxnSpPr>
        <p:spPr>
          <a:xfrm>
            <a:off x="502920" y="1170432"/>
            <a:ext cx="11155680" cy="0"/>
          </a:xfrm>
          <a:prstGeom prst="straightConnector1">
            <a:avLst/>
          </a:prstGeom>
          <a:noFill/>
          <a:ln w="19050" cap="flat" cmpd="sng">
            <a:solidFill>
              <a:srgbClr val="2F6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Shape 2">
            <a:extLst>
              <a:ext uri="{FF2B5EF4-FFF2-40B4-BE49-F238E27FC236}">
                <a16:creationId xmlns:a16="http://schemas.microsoft.com/office/drawing/2014/main" id="{8FEC741E-C1A6-B267-D15F-7798F39490C1}"/>
              </a:ext>
            </a:extLst>
          </p:cNvPr>
          <p:cNvSpPr/>
          <p:nvPr/>
        </p:nvSpPr>
        <p:spPr>
          <a:xfrm>
            <a:off x="8011886" y="1298907"/>
            <a:ext cx="3838302" cy="5175916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4F3B024-45AF-6504-892F-F506563AFA38}"/>
              </a:ext>
            </a:extLst>
          </p:cNvPr>
          <p:cNvSpPr/>
          <p:nvPr/>
        </p:nvSpPr>
        <p:spPr>
          <a:xfrm>
            <a:off x="8151222" y="1478280"/>
            <a:ext cx="3537857" cy="47918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just"/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endParaRPr lang="en-US" sz="18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Apple's stock price generally increased from 2021 to 2026 despite temporary declines, showing strong long-term growth.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</a:t>
            </a:r>
            <a:endParaRPr lang="en-US" sz="18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investors may benefit from a buy-and-hold strategy as the stock maintained an overall upward trend</a:t>
            </a:r>
            <a:r>
              <a:rPr lang="en-US" sz="2400" dirty="0"/>
              <a:t>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69D60A-42A8-7023-90D6-E94218715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647" y="145433"/>
            <a:ext cx="1182188" cy="788125"/>
          </a:xfrm>
          <a:prstGeom prst="rect">
            <a:avLst/>
          </a:prstGeom>
        </p:spPr>
      </p:pic>
      <p:sp>
        <p:nvSpPr>
          <p:cNvPr id="11" name="Google Shape;78;p6">
            <a:extLst>
              <a:ext uri="{FF2B5EF4-FFF2-40B4-BE49-F238E27FC236}">
                <a16:creationId xmlns:a16="http://schemas.microsoft.com/office/drawing/2014/main" id="{9FBEBD69-BA06-93B1-7573-E5D912CB569C}"/>
              </a:ext>
            </a:extLst>
          </p:cNvPr>
          <p:cNvSpPr/>
          <p:nvPr/>
        </p:nvSpPr>
        <p:spPr>
          <a:xfrm>
            <a:off x="784861" y="1478280"/>
            <a:ext cx="7065915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mbria"/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has Apple's Stock Price Changed Over the Last 5 Years?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986141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1558835" y="358141"/>
            <a:ext cx="10308771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mbria"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TRADING VOLUME TREND</a:t>
            </a:r>
            <a:endParaRPr lang="en-US" sz="2400" b="1" dirty="0">
              <a:solidFill>
                <a:schemeClr val="dk1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cxnSp>
        <p:nvCxnSpPr>
          <p:cNvPr id="79" name="Google Shape;79;p6"/>
          <p:cNvCxnSpPr/>
          <p:nvPr/>
        </p:nvCxnSpPr>
        <p:spPr>
          <a:xfrm>
            <a:off x="502920" y="1170432"/>
            <a:ext cx="11155680" cy="0"/>
          </a:xfrm>
          <a:prstGeom prst="straightConnector1">
            <a:avLst/>
          </a:prstGeom>
          <a:noFill/>
          <a:ln w="19050" cap="flat" cmpd="sng">
            <a:solidFill>
              <a:srgbClr val="2F6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Shape 2">
            <a:extLst>
              <a:ext uri="{FF2B5EF4-FFF2-40B4-BE49-F238E27FC236}">
                <a16:creationId xmlns:a16="http://schemas.microsoft.com/office/drawing/2014/main" id="{8FEC741E-C1A6-B267-D15F-7798F39490C1}"/>
              </a:ext>
            </a:extLst>
          </p:cNvPr>
          <p:cNvSpPr/>
          <p:nvPr/>
        </p:nvSpPr>
        <p:spPr>
          <a:xfrm>
            <a:off x="8011886" y="1298906"/>
            <a:ext cx="3838302" cy="5367895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4F3B024-45AF-6504-892F-F506563AFA38}"/>
              </a:ext>
            </a:extLst>
          </p:cNvPr>
          <p:cNvSpPr/>
          <p:nvPr/>
        </p:nvSpPr>
        <p:spPr>
          <a:xfrm>
            <a:off x="8151222" y="1478279"/>
            <a:ext cx="3537857" cy="5188521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Trading volume fluctuated throughout the period, but the stock price continued to rise, indicating sustained investor confidence.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volume mostly ranged between 50M–100M shares.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spikes exceeded 200M shares.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Investigate dates with unusual volume spikes. They may be linked to major company or market events.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69D60A-42A8-7023-90D6-E94218715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47" y="145433"/>
            <a:ext cx="1182188" cy="788125"/>
          </a:xfrm>
          <a:prstGeom prst="rect">
            <a:avLst/>
          </a:prstGeom>
        </p:spPr>
      </p:pic>
      <p:sp>
        <p:nvSpPr>
          <p:cNvPr id="11" name="Google Shape;78;p6">
            <a:extLst>
              <a:ext uri="{FF2B5EF4-FFF2-40B4-BE49-F238E27FC236}">
                <a16:creationId xmlns:a16="http://schemas.microsoft.com/office/drawing/2014/main" id="{9FBEBD69-BA06-93B1-7573-E5D912CB569C}"/>
              </a:ext>
            </a:extLst>
          </p:cNvPr>
          <p:cNvSpPr/>
          <p:nvPr/>
        </p:nvSpPr>
        <p:spPr>
          <a:xfrm>
            <a:off x="784862" y="1478280"/>
            <a:ext cx="615587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mbria"/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Active Were Investors In Trading Apple Shares?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FE01F2-1330-6DD5-C1E6-A2D248A0EB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812" y="2627842"/>
            <a:ext cx="7563906" cy="34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289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1558835" y="358141"/>
            <a:ext cx="10308771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mbria"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MOVING AVERAGE ANALYSIS</a:t>
            </a:r>
            <a:endParaRPr lang="en-US" sz="2400" b="1" dirty="0">
              <a:solidFill>
                <a:schemeClr val="dk1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cxnSp>
        <p:nvCxnSpPr>
          <p:cNvPr id="79" name="Google Shape;79;p6"/>
          <p:cNvCxnSpPr/>
          <p:nvPr/>
        </p:nvCxnSpPr>
        <p:spPr>
          <a:xfrm>
            <a:off x="502920" y="1170432"/>
            <a:ext cx="11155680" cy="0"/>
          </a:xfrm>
          <a:prstGeom prst="straightConnector1">
            <a:avLst/>
          </a:prstGeom>
          <a:noFill/>
          <a:ln w="19050" cap="flat" cmpd="sng">
            <a:solidFill>
              <a:srgbClr val="2F6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Shape 2">
            <a:extLst>
              <a:ext uri="{FF2B5EF4-FFF2-40B4-BE49-F238E27FC236}">
                <a16:creationId xmlns:a16="http://schemas.microsoft.com/office/drawing/2014/main" id="{8FEC741E-C1A6-B267-D15F-7798F39490C1}"/>
              </a:ext>
            </a:extLst>
          </p:cNvPr>
          <p:cNvSpPr/>
          <p:nvPr/>
        </p:nvSpPr>
        <p:spPr>
          <a:xfrm>
            <a:off x="8011886" y="1298907"/>
            <a:ext cx="3838302" cy="5175916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4F3B024-45AF-6504-892F-F506563AFA38}"/>
              </a:ext>
            </a:extLst>
          </p:cNvPr>
          <p:cNvSpPr/>
          <p:nvPr/>
        </p:nvSpPr>
        <p:spPr>
          <a:xfrm>
            <a:off x="8151222" y="1478280"/>
            <a:ext cx="3537857" cy="47918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endParaRPr lang="en-US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7-Day and 30-Day Moving Averages trended upward, confirming a strong long-term bullish trend despite temporary periods of weakness like in 2022 and 2025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the long-term trend rather than reacting to short-term price fluctuations.</a:t>
            </a:r>
          </a:p>
          <a:p>
            <a:endParaRPr lang="en-US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69D60A-42A8-7023-90D6-E94218715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47" y="145433"/>
            <a:ext cx="1182188" cy="788125"/>
          </a:xfrm>
          <a:prstGeom prst="rect">
            <a:avLst/>
          </a:prstGeom>
        </p:spPr>
      </p:pic>
      <p:sp>
        <p:nvSpPr>
          <p:cNvPr id="11" name="Google Shape;78;p6">
            <a:extLst>
              <a:ext uri="{FF2B5EF4-FFF2-40B4-BE49-F238E27FC236}">
                <a16:creationId xmlns:a16="http://schemas.microsoft.com/office/drawing/2014/main" id="{9FBEBD69-BA06-93B1-7573-E5D912CB569C}"/>
              </a:ext>
            </a:extLst>
          </p:cNvPr>
          <p:cNvSpPr/>
          <p:nvPr/>
        </p:nvSpPr>
        <p:spPr>
          <a:xfrm>
            <a:off x="784862" y="1478280"/>
            <a:ext cx="615587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mbria"/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Overall Direction of Apple's Stock?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658AB7-0811-C87C-8667-F6C593A14D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812" y="2585935"/>
            <a:ext cx="7649643" cy="341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831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1558835" y="358141"/>
            <a:ext cx="10308771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mbria"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RETURN ANALYSIS</a:t>
            </a:r>
            <a:endParaRPr lang="en-US" sz="2400" b="1" dirty="0">
              <a:solidFill>
                <a:schemeClr val="dk1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cxnSp>
        <p:nvCxnSpPr>
          <p:cNvPr id="79" name="Google Shape;79;p6"/>
          <p:cNvCxnSpPr/>
          <p:nvPr/>
        </p:nvCxnSpPr>
        <p:spPr>
          <a:xfrm>
            <a:off x="502920" y="1170432"/>
            <a:ext cx="11155680" cy="0"/>
          </a:xfrm>
          <a:prstGeom prst="straightConnector1">
            <a:avLst/>
          </a:prstGeom>
          <a:noFill/>
          <a:ln w="19050" cap="flat" cmpd="sng">
            <a:solidFill>
              <a:srgbClr val="2F69D9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0D466F6-DD6E-0B6E-A07F-69611CFCA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12" y="2569257"/>
            <a:ext cx="7687748" cy="3448531"/>
          </a:xfrm>
          <a:prstGeom prst="rect">
            <a:avLst/>
          </a:prstGeom>
        </p:spPr>
      </p:pic>
      <p:sp>
        <p:nvSpPr>
          <p:cNvPr id="4" name="Shape 2">
            <a:extLst>
              <a:ext uri="{FF2B5EF4-FFF2-40B4-BE49-F238E27FC236}">
                <a16:creationId xmlns:a16="http://schemas.microsoft.com/office/drawing/2014/main" id="{8FEC741E-C1A6-B267-D15F-7798F39490C1}"/>
              </a:ext>
            </a:extLst>
          </p:cNvPr>
          <p:cNvSpPr/>
          <p:nvPr/>
        </p:nvSpPr>
        <p:spPr>
          <a:xfrm>
            <a:off x="8011886" y="1298907"/>
            <a:ext cx="3838302" cy="5175916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4F3B024-45AF-6504-892F-F506563AFA38}"/>
              </a:ext>
            </a:extLst>
          </p:cNvPr>
          <p:cNvSpPr/>
          <p:nvPr/>
        </p:nvSpPr>
        <p:spPr>
          <a:xfrm>
            <a:off x="8151222" y="1478280"/>
            <a:ext cx="3537857" cy="47918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endParaRPr lang="en-US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returns fluctuated around zero, with most gains and losses remaining relatively small, indicating stable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</a:t>
            </a:r>
            <a:endParaRPr lang="en-US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decisions based on a single day's return. Consider volume and market news alongside returns.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69D60A-42A8-7023-90D6-E94218715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647" y="145433"/>
            <a:ext cx="1182188" cy="788125"/>
          </a:xfrm>
          <a:prstGeom prst="rect">
            <a:avLst/>
          </a:prstGeom>
        </p:spPr>
      </p:pic>
      <p:sp>
        <p:nvSpPr>
          <p:cNvPr id="11" name="Google Shape;78;p6">
            <a:extLst>
              <a:ext uri="{FF2B5EF4-FFF2-40B4-BE49-F238E27FC236}">
                <a16:creationId xmlns:a16="http://schemas.microsoft.com/office/drawing/2014/main" id="{9FBEBD69-BA06-93B1-7573-E5D912CB569C}"/>
              </a:ext>
            </a:extLst>
          </p:cNvPr>
          <p:cNvSpPr/>
          <p:nvPr/>
        </p:nvSpPr>
        <p:spPr>
          <a:xfrm>
            <a:off x="784862" y="1478280"/>
            <a:ext cx="653033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mbria"/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much did Apple's stock gain or lose on a daily basis?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129096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1558835" y="358141"/>
            <a:ext cx="10308771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VOLATILITY ANALYSIS</a:t>
            </a:r>
          </a:p>
        </p:txBody>
      </p:sp>
      <p:cxnSp>
        <p:nvCxnSpPr>
          <p:cNvPr id="79" name="Google Shape;79;p6"/>
          <p:cNvCxnSpPr/>
          <p:nvPr/>
        </p:nvCxnSpPr>
        <p:spPr>
          <a:xfrm>
            <a:off x="502920" y="1170432"/>
            <a:ext cx="11155680" cy="0"/>
          </a:xfrm>
          <a:prstGeom prst="straightConnector1">
            <a:avLst/>
          </a:prstGeom>
          <a:noFill/>
          <a:ln w="19050" cap="flat" cmpd="sng">
            <a:solidFill>
              <a:srgbClr val="2F6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Shape 2">
            <a:extLst>
              <a:ext uri="{FF2B5EF4-FFF2-40B4-BE49-F238E27FC236}">
                <a16:creationId xmlns:a16="http://schemas.microsoft.com/office/drawing/2014/main" id="{8FEC741E-C1A6-B267-D15F-7798F39490C1}"/>
              </a:ext>
            </a:extLst>
          </p:cNvPr>
          <p:cNvSpPr/>
          <p:nvPr/>
        </p:nvSpPr>
        <p:spPr>
          <a:xfrm>
            <a:off x="8011886" y="1298907"/>
            <a:ext cx="3838302" cy="5175916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4F3B024-45AF-6504-892F-F506563AFA38}"/>
              </a:ext>
            </a:extLst>
          </p:cNvPr>
          <p:cNvSpPr/>
          <p:nvPr/>
        </p:nvSpPr>
        <p:spPr>
          <a:xfrm>
            <a:off x="8151222" y="1478280"/>
            <a:ext cx="3537857" cy="47918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endParaRPr lang="en-US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Volatility remained moderate for most periods.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few spikes occurred, especially around 2025.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stock maintained its long-term upward trend.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</a:t>
            </a:r>
            <a:endParaRPr lang="en-US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 closer attention during periods of high volatility, as they may signal increased risk and uncertainty.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69D60A-42A8-7023-90D6-E94218715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47" y="145433"/>
            <a:ext cx="1182188" cy="788125"/>
          </a:xfrm>
          <a:prstGeom prst="rect">
            <a:avLst/>
          </a:prstGeom>
        </p:spPr>
      </p:pic>
      <p:sp>
        <p:nvSpPr>
          <p:cNvPr id="11" name="Google Shape;78;p6">
            <a:extLst>
              <a:ext uri="{FF2B5EF4-FFF2-40B4-BE49-F238E27FC236}">
                <a16:creationId xmlns:a16="http://schemas.microsoft.com/office/drawing/2014/main" id="{9FBEBD69-BA06-93B1-7573-E5D912CB569C}"/>
              </a:ext>
            </a:extLst>
          </p:cNvPr>
          <p:cNvSpPr/>
          <p:nvPr/>
        </p:nvSpPr>
        <p:spPr>
          <a:xfrm>
            <a:off x="784862" y="1478280"/>
            <a:ext cx="615587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stable or risky was Apple's stock over time?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6CAE20-71F3-3962-B4CA-B47CC6F8E7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17" y="2477200"/>
            <a:ext cx="7706801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848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1558835" y="358141"/>
            <a:ext cx="10308771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AND RECOMMENDATION</a:t>
            </a:r>
          </a:p>
        </p:txBody>
      </p:sp>
      <p:cxnSp>
        <p:nvCxnSpPr>
          <p:cNvPr id="79" name="Google Shape;79;p6"/>
          <p:cNvCxnSpPr/>
          <p:nvPr/>
        </p:nvCxnSpPr>
        <p:spPr>
          <a:xfrm>
            <a:off x="502920" y="1170432"/>
            <a:ext cx="11155680" cy="0"/>
          </a:xfrm>
          <a:prstGeom prst="straightConnector1">
            <a:avLst/>
          </a:prstGeom>
          <a:noFill/>
          <a:ln w="19050" cap="flat" cmpd="sng">
            <a:solidFill>
              <a:srgbClr val="2F69D9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7369D60A-42A8-7023-90D6-E94218715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47" y="145433"/>
            <a:ext cx="1182188" cy="788125"/>
          </a:xfrm>
          <a:prstGeom prst="rect">
            <a:avLst/>
          </a:prstGeom>
        </p:spPr>
      </p:pic>
      <p:sp>
        <p:nvSpPr>
          <p:cNvPr id="2" name="Text 3">
            <a:extLst>
              <a:ext uri="{FF2B5EF4-FFF2-40B4-BE49-F238E27FC236}">
                <a16:creationId xmlns:a16="http://schemas.microsoft.com/office/drawing/2014/main" id="{AC566BBB-A06F-4E65-C032-A6CAE8F87FAF}"/>
              </a:ext>
            </a:extLst>
          </p:cNvPr>
          <p:cNvSpPr/>
          <p:nvPr/>
        </p:nvSpPr>
        <p:spPr>
          <a:xfrm>
            <a:off x="502920" y="1440397"/>
            <a:ext cx="10086703" cy="4794939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 maintained a strong long-term upward trend.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 confidence remained strong despite fluctuations in trading activity.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Moving averages confirmed sustained growth.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returns showed generally stable performance.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Volatility spikes were temporary and did not change the overall trend.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combination of price trends, volume, moving averages, daily returns, and volatility when evaluating stock performance rather than relying on a single indicator.</a:t>
            </a:r>
          </a:p>
        </p:txBody>
      </p:sp>
    </p:spTree>
    <p:extLst>
      <p:ext uri="{BB962C8B-B14F-4D97-AF65-F5344CB8AC3E}">
        <p14:creationId xmlns:p14="http://schemas.microsoft.com/office/powerpoint/2010/main" val="532103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439</Words>
  <Application>Microsoft Office PowerPoint</Application>
  <PresentationFormat>Widescreen</PresentationFormat>
  <Paragraphs>77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HomePC</dc:creator>
  <cp:lastModifiedBy>Chukwudi Onwusa</cp:lastModifiedBy>
  <cp:revision>78</cp:revision>
  <dcterms:modified xsi:type="dcterms:W3CDTF">2026-06-16T16:26:49Z</dcterms:modified>
</cp:coreProperties>
</file>